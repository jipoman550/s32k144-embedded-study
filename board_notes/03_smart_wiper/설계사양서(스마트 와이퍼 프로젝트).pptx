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1AABB5D-CCF6-4E99-946F-774AE761B5A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latin typeface="Arial"/>
              </a:rPr>
              <a:t>맞는지 회로도</a:t>
            </a:r>
            <a:r>
              <a:rPr b="0" lang="en-US" sz="1100" spc="-1" strike="noStrike">
                <a:latin typeface="Arial"/>
              </a:rPr>
              <a:t>? </a:t>
            </a:r>
            <a:r>
              <a:rPr b="0" lang="ko" sz="1100" spc="-1" strike="noStrike">
                <a:latin typeface="Arial"/>
              </a:rPr>
              <a:t>확인하기</a:t>
            </a:r>
            <a:r>
              <a:rPr b="0" lang="en-US" sz="1100" spc="-1" strike="noStrike">
                <a:latin typeface="Arial"/>
              </a:rPr>
              <a:t>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Analog Voltage (0V ~ 5V) </a:t>
            </a:r>
            <a:r>
              <a:rPr b="0" lang="ko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이거 맞는지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data sheet or RM </a:t>
            </a:r>
            <a:r>
              <a:rPr b="0" lang="ko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에서 확인하기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Pwm Signal (50 Hz) </a:t>
            </a:r>
            <a:r>
              <a:rPr b="0" lang="ko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이것도 맞는지 확인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  <a:ea typeface="Courier New"/>
              </a:rPr>
              <a:t>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  <a:ea typeface="Courier New"/>
              </a:rPr>
              <a:t>==============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latin typeface="Courier New"/>
                <a:ea typeface="Courier New"/>
              </a:rPr>
              <a:t>핀맵을 보고 어떤 핀에 </a:t>
            </a:r>
            <a:r>
              <a:rPr b="0" lang="en-US" sz="1100" spc="-1" strike="noStrike">
                <a:latin typeface="Courier New"/>
                <a:ea typeface="Courier New"/>
              </a:rPr>
              <a:t>(J1, J2, J3 … ) </a:t>
            </a:r>
            <a:r>
              <a:rPr b="0" lang="ko" sz="1100" spc="-1" strike="noStrike">
                <a:latin typeface="Courier New"/>
                <a:ea typeface="Courier New"/>
              </a:rPr>
              <a:t>꽂아가며 해야하는지</a:t>
            </a:r>
            <a:r>
              <a:rPr b="0" lang="en-US" sz="1100" spc="-1" strike="noStrike">
                <a:latin typeface="Courier New"/>
                <a:ea typeface="Courier New"/>
              </a:rPr>
              <a:t>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latin typeface="Courier New"/>
                <a:ea typeface="Courier New"/>
              </a:rPr>
              <a:t>책임님이 화이트보드에 그려주신 것처럼 그라운드</a:t>
            </a:r>
            <a:r>
              <a:rPr b="0" lang="en-US" sz="1100" spc="-1" strike="noStrike">
                <a:latin typeface="Courier New"/>
                <a:ea typeface="Courier New"/>
              </a:rPr>
              <a:t>.. </a:t>
            </a:r>
            <a:r>
              <a:rPr b="0" lang="ko" sz="1100" spc="-1" strike="noStrike">
                <a:latin typeface="Courier New"/>
                <a:ea typeface="Courier New"/>
              </a:rPr>
              <a:t>등 회로도를 읽을 줄 알아야하는 지식이 있어야 할 것같은데 </a:t>
            </a:r>
            <a:r>
              <a:rPr b="0" lang="en-US" sz="1100" spc="-1" strike="noStrike">
                <a:latin typeface="Courier New"/>
                <a:ea typeface="Courier New"/>
              </a:rPr>
              <a:t>// </a:t>
            </a:r>
            <a:r>
              <a:rPr b="0" lang="ko" sz="1100" spc="-1" strike="noStrike">
                <a:latin typeface="Courier New"/>
                <a:ea typeface="Courier New"/>
              </a:rPr>
              <a:t>이랑 </a:t>
            </a:r>
            <a:r>
              <a:rPr b="0" lang="en-US" sz="1100" spc="-1" strike="noStrike">
                <a:latin typeface="Courier New"/>
                <a:ea typeface="Courier New"/>
              </a:rPr>
              <a:t>evb</a:t>
            </a:r>
            <a:r>
              <a:rPr b="0" lang="ko" sz="1100" spc="-1" strike="noStrike">
                <a:latin typeface="Courier New"/>
                <a:ea typeface="Courier New"/>
              </a:rPr>
              <a:t>보드랑 서보모터</a:t>
            </a:r>
            <a:r>
              <a:rPr b="0" lang="en-US" sz="1100" spc="-1" strike="noStrike">
                <a:latin typeface="Courier New"/>
                <a:ea typeface="Courier New"/>
              </a:rPr>
              <a:t>, adc </a:t>
            </a:r>
            <a:r>
              <a:rPr b="0" lang="ko" sz="1100" spc="-1" strike="noStrike">
                <a:latin typeface="Courier New"/>
                <a:ea typeface="Courier New"/>
              </a:rPr>
              <a:t>관계를 어떻게 연결해야하는지 그림으로 내가 직접 그릴 수 있으면 </a:t>
            </a:r>
            <a:r>
              <a:rPr b="0" lang="en-US" sz="1100" spc="-1" strike="noStrike">
                <a:latin typeface="Courier New"/>
                <a:ea typeface="Courier New"/>
              </a:rPr>
              <a:t>best</a:t>
            </a:r>
            <a:r>
              <a:rPr b="0" lang="ko" sz="1100" spc="-1" strike="noStrike">
                <a:latin typeface="Courier New"/>
                <a:ea typeface="Courier New"/>
              </a:rPr>
              <a:t>일듯</a:t>
            </a:r>
            <a:r>
              <a:rPr b="0" lang="en-US" sz="1100" spc="-1" strike="noStrike">
                <a:latin typeface="Courier New"/>
                <a:ea typeface="Courier New"/>
              </a:rPr>
              <a:t>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  <a:ea typeface="Courier New"/>
              </a:rPr>
              <a:t>VCC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  <a:ea typeface="Courier New"/>
              </a:rPr>
              <a:t>GND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  <a:ea typeface="Courier New"/>
              </a:rPr>
              <a:t>5V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  <a:ea typeface="Courier New"/>
              </a:rPr>
              <a:t>PWM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Courier New"/>
                <a:ea typeface="Courier New"/>
              </a:rPr>
              <a:t>ADC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latin typeface="Courier New"/>
                <a:ea typeface="Courier New"/>
              </a:rPr>
              <a:t>이런거를 보면서 해야하는거 같음</a:t>
            </a:r>
            <a:r>
              <a:rPr b="0" lang="en-US" sz="1100" spc="-1" strike="noStrike">
                <a:latin typeface="Courier New"/>
                <a:ea typeface="Courier New"/>
              </a:rPr>
              <a:t>. 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latin typeface="Arial"/>
              </a:rPr>
              <a:t>레지스터 맞는지 </a:t>
            </a:r>
            <a:r>
              <a:rPr b="0" lang="en-US" sz="1100" spc="-1" strike="noStrike">
                <a:latin typeface="Arial"/>
              </a:rPr>
              <a:t>RM, DataSheet </a:t>
            </a:r>
            <a:r>
              <a:rPr b="0" lang="ko" sz="1100" spc="-1" strike="noStrike">
                <a:latin typeface="Arial"/>
              </a:rPr>
              <a:t>확인하기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latin typeface="Arial"/>
              </a:rPr>
              <a:t>이 부분도 </a:t>
            </a:r>
            <a:r>
              <a:rPr b="0" lang="en-US" sz="1100" spc="-1" strike="noStrike">
                <a:latin typeface="Arial"/>
              </a:rPr>
              <a:t>RM</a:t>
            </a:r>
            <a:r>
              <a:rPr b="0" lang="ko" sz="1100" spc="-1" strike="noStrike">
                <a:latin typeface="Arial"/>
              </a:rPr>
              <a:t>이랑 데이터시트 확인해서 맞는지 확인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Arial"/>
              </a:rPr>
              <a:t>==============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latin typeface="Arial"/>
              </a:rPr>
              <a:t>LOW, HIGH</a:t>
            </a:r>
            <a:r>
              <a:rPr b="0" lang="ko" sz="1100" spc="-1" strike="noStrike">
                <a:latin typeface="Arial"/>
              </a:rPr>
              <a:t>는 </a:t>
            </a:r>
            <a:r>
              <a:rPr b="0" lang="en-US" sz="1100" spc="-1" strike="noStrike">
                <a:latin typeface="Arial"/>
              </a:rPr>
              <a:t>CPM </a:t>
            </a:r>
            <a:r>
              <a:rPr b="0" lang="ko" sz="1100" spc="-1" strike="noStrike">
                <a:latin typeface="Arial"/>
              </a:rPr>
              <a:t>단위로 정의</a:t>
            </a:r>
            <a:r>
              <a:rPr b="0" lang="en-US" sz="1100" spc="-1" strike="noStrike">
                <a:latin typeface="Arial"/>
              </a:rPr>
              <a:t>. 1 CPM</a:t>
            </a:r>
            <a:r>
              <a:rPr b="0" lang="ko" sz="1100" spc="-1" strike="noStrike">
                <a:latin typeface="Arial"/>
              </a:rPr>
              <a:t>은 </a:t>
            </a:r>
            <a:r>
              <a:rPr b="0" lang="en-US" sz="1100" spc="-1" strike="noStrike">
                <a:latin typeface="Arial"/>
              </a:rPr>
              <a:t>1</a:t>
            </a:r>
            <a:r>
              <a:rPr b="0" lang="ko" sz="1100" spc="-1" strike="noStrike">
                <a:latin typeface="Arial"/>
              </a:rPr>
              <a:t>분에 </a:t>
            </a:r>
            <a:r>
              <a:rPr b="0" lang="en-US" sz="1100" spc="-1" strike="noStrike">
                <a:latin typeface="Arial"/>
              </a:rPr>
              <a:t>cycle</a:t>
            </a:r>
            <a:r>
              <a:rPr b="0" lang="ko" sz="1100" spc="-1" strike="noStrike">
                <a:latin typeface="Arial"/>
              </a:rPr>
              <a:t>을 </a:t>
            </a:r>
            <a:r>
              <a:rPr b="0" lang="en-US" sz="1100" spc="-1" strike="noStrike">
                <a:latin typeface="Arial"/>
              </a:rPr>
              <a:t>1</a:t>
            </a:r>
            <a:r>
              <a:rPr b="0" lang="ko" sz="1100" spc="-1" strike="noStrike">
                <a:latin typeface="Arial"/>
              </a:rPr>
              <a:t>번하는 거임</a:t>
            </a:r>
            <a:r>
              <a:rPr b="0" lang="en-US" sz="1100" spc="-1" strike="noStrike">
                <a:latin typeface="Arial"/>
              </a:rPr>
              <a:t>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latin typeface="Arial"/>
              </a:rPr>
              <a:t>와이퍼 각도 현재 내가 사려는 서보모터의 사양서를 보면 </a:t>
            </a:r>
            <a:r>
              <a:rPr b="0" lang="en-US" sz="1100" spc="-1" strike="noStrike">
                <a:latin typeface="Arial"/>
              </a:rPr>
              <a:t>0 ~ 180</a:t>
            </a:r>
            <a:r>
              <a:rPr b="0" lang="ko" sz="1100" spc="-1" strike="noStrike">
                <a:latin typeface="Arial"/>
              </a:rPr>
              <a:t>도 까지 되는데 이걸</a:t>
            </a:r>
            <a:r>
              <a:rPr b="0" lang="en-US" sz="1100" spc="-1" strike="noStrike">
                <a:latin typeface="Arial"/>
              </a:rPr>
              <a:t>0 ~ 140</a:t>
            </a:r>
            <a:r>
              <a:rPr b="0" lang="ko" sz="1100" spc="-1" strike="noStrike">
                <a:latin typeface="Arial"/>
              </a:rPr>
              <a:t>도 까지로 제한하기</a:t>
            </a:r>
            <a:r>
              <a:rPr b="0" lang="en-US" sz="1100" spc="-1" strike="noStrike">
                <a:latin typeface="Arial"/>
              </a:rPr>
              <a:t>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latin typeface="Arial"/>
              </a:rPr>
              <a:t>외부하드웨어의 스펙도 잘 봐야되는 것 같음</a:t>
            </a:r>
            <a:r>
              <a:rPr b="0" lang="en-US" sz="1100" spc="-1" strike="noStrike">
                <a:latin typeface="Arial"/>
              </a:rPr>
              <a:t>.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latin typeface="Arial"/>
              </a:rPr>
              <a:t>서보모터 </a:t>
            </a:r>
            <a:r>
              <a:rPr b="0" lang="en-US" sz="1100" spc="-1" strike="noStrike">
                <a:latin typeface="Arial"/>
              </a:rPr>
              <a:t>: </a:t>
            </a:r>
            <a:r>
              <a:rPr b="0" lang="ko" sz="1100" spc="-1" strike="noStrike">
                <a:latin typeface="Arial"/>
              </a:rPr>
              <a:t>유사품이 많으나 </a:t>
            </a:r>
            <a:r>
              <a:rPr b="0" lang="en-US" sz="1100" spc="-1" strike="noStrike">
                <a:latin typeface="Arial"/>
              </a:rPr>
              <a:t>SG90 </a:t>
            </a:r>
            <a:r>
              <a:rPr b="0" lang="ko" sz="1100" spc="-1" strike="noStrike">
                <a:latin typeface="Arial"/>
              </a:rPr>
              <a:t>규격이면 모두 호환됩니다</a:t>
            </a:r>
            <a:r>
              <a:rPr b="0" lang="en-US" sz="1100" spc="-1" strike="noStrike">
                <a:latin typeface="Arial"/>
              </a:rPr>
              <a:t>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latin typeface="Arial"/>
              </a:rPr>
              <a:t>가변저항 </a:t>
            </a:r>
            <a:r>
              <a:rPr b="0" lang="en-US" sz="1100" spc="-1" strike="noStrike">
                <a:latin typeface="Arial"/>
              </a:rPr>
              <a:t>: </a:t>
            </a:r>
            <a:r>
              <a:rPr b="0" lang="ko" sz="1100" spc="-1" strike="noStrike">
                <a:latin typeface="Arial"/>
              </a:rPr>
              <a:t>빵판에 꽂기 편하도록 다리가 일자인 것을 추천합니다</a:t>
            </a:r>
            <a:r>
              <a:rPr b="0" lang="en-US" sz="1100" spc="-1" strike="noStrike">
                <a:latin typeface="Arial"/>
              </a:rPr>
              <a:t>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latin typeface="Arial"/>
              </a:rPr>
              <a:t>점퍼선 세트 </a:t>
            </a:r>
            <a:r>
              <a:rPr b="0" lang="en-US" sz="1100" spc="-1" strike="noStrike">
                <a:latin typeface="Arial"/>
              </a:rPr>
              <a:t>: 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보드의 핀 헤더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수단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)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와 연결하려면 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M/F(</a:t>
            </a:r>
            <a:r>
              <a:rPr b="1" lang="ko" sz="1100" spc="-1" strike="noStrike">
                <a:solidFill>
                  <a:srgbClr val="000000"/>
                </a:solidFill>
                <a:latin typeface="Arial"/>
              </a:rPr>
              <a:t>숫놈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1" lang="ko" sz="1100" spc="-1" strike="noStrike">
                <a:solidFill>
                  <a:srgbClr val="000000"/>
                </a:solidFill>
                <a:latin typeface="Arial"/>
              </a:rPr>
              <a:t>암놈</a:t>
            </a:r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)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선이 반드시 필요합니다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 M/M 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이랑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M/F 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둘다 사야되나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? F/F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는 안되는 이유는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EVB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보드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J1 ~ 6 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이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F 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형이어서 그런건가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?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===================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가변저항은 외부 하드웨어를 가지고 하면 회로도를 볼 줄 알아야한다는데 시도를 해보고 안되면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evb 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내장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ADC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로 해도 될듯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?? </a:t>
            </a:r>
            <a:r>
              <a:rPr b="0" lang="ko" sz="1100" spc="-1" strike="noStrike">
                <a:solidFill>
                  <a:srgbClr val="000000"/>
                </a:solidFill>
                <a:latin typeface="Arial"/>
              </a:rPr>
              <a:t>하드웨어 서보모터말고 다른 빵판이나 점퍼선은 사양서 보고 빵판이나 점퍼선을 사면 되나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??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454F2C0-E846-42ED-96D2-7E646DAB597C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2F13785-8BF0-41A7-B4CA-6CD5A870323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A2909C9-BB36-4DAC-9054-8603539B45EE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A8A6922-5364-4E30-B712-F3C90C2BC862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E008362-B60D-40DC-8CB0-C4B81F2CB59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998176B-EE05-493D-A758-010B06927A88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4CE72E4-6B34-401E-BCB5-EEED52AF274D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94815DD-140B-4398-A96B-5DA36EAB1785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8CF576A-4420-49C7-9AA5-8A9EB592CE89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1684ADD-94D9-452B-B627-029553AC7D0E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705E483-9B1A-46CB-BCC1-30BB61D8F697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F9A8888-D4BF-4EBD-9564-DF894EB1318F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7DA87E-FB83-4021-896D-AB840797DB3B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E771B5-5935-476C-BD77-DBE29EC034D2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50C051-31E1-4F98-8AF1-BD1F8120A6FE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9BCAC4-2AEF-47F8-9632-2A9E9A8B06E8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6C73B7-89CA-410B-A628-0F06DE608709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D19FF3-1F41-460E-A32E-B3677BBC285C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1D75E9-DE48-4BFC-B366-8E8C310B1F89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A2325A-D4BB-4602-B223-4958C3D81CF4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0C551E-D721-4376-9DB4-2639AECF560F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FF1D75-B780-403A-BB9D-A72C3899501B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06F017-D5E2-4A19-B906-1CF4B4173E52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1D53837-7CBC-49CE-B045-B63757C87CE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A220773-0E41-469F-BF21-5EE64F4CA87B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12FC8ED-95EA-416F-8C61-07CA8A351F40}" type="slidenum">
              <a:rPr b="0" lang="en-US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www.google.com/search?q=https://www.devicemart.co.kr/goods/view%3Fno%3D1061726" TargetMode="External"/><Relationship Id="rId2" Type="http://schemas.openxmlformats.org/officeDocument/2006/relationships/hyperlink" Target="https://www.devicemart.co.kr/goods/view?no=1128421" TargetMode="External"/><Relationship Id="rId3" Type="http://schemas.openxmlformats.org/officeDocument/2006/relationships/hyperlink" Target="https://www.devicemart.co.kr/goods/view?no=1385277" TargetMode="External"/><Relationship Id="rId4" Type="http://schemas.openxmlformats.org/officeDocument/2006/relationships/hyperlink" Target="https://www.devicemart.co.kr/goods/view?no=1327170" TargetMode="External"/><Relationship Id="rId5" Type="http://schemas.openxmlformats.org/officeDocument/2006/relationships/hyperlink" Target="https://www.devicemart.co.kr/goods/view?no=15810172" TargetMode="External"/><Relationship Id="rId6" Type="http://schemas.openxmlformats.org/officeDocument/2006/relationships/hyperlink" Target="https://www.devicemart.co.kr/goods/view?no=15810171" TargetMode="External"/><Relationship Id="rId7" Type="http://schemas.openxmlformats.org/officeDocument/2006/relationships/slideLayout" Target="../slideLayouts/slideLayout15.xml"/><Relationship Id="rId8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98160" y="759600"/>
            <a:ext cx="8520120" cy="1257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5200" spc="-1" strike="noStrike">
                <a:solidFill>
                  <a:srgbClr val="000000"/>
                </a:solidFill>
                <a:latin typeface="Arial"/>
                <a:ea typeface="Arial"/>
              </a:rPr>
              <a:t>스마트 와이퍼 프로젝트 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311760" y="308160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ko" sz="3609" spc="-1" strike="noStrike">
                <a:solidFill>
                  <a:srgbClr val="000000"/>
                </a:solidFill>
                <a:latin typeface="Arial"/>
                <a:ea typeface="Arial"/>
              </a:rPr>
              <a:t>설계사양서</a:t>
            </a:r>
            <a:endParaRPr b="0" lang="en-US" sz="360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1. </a:t>
            </a:r>
            <a:r>
              <a:rPr b="0" lang="ko" sz="2800" spc="-1" strike="noStrike">
                <a:solidFill>
                  <a:srgbClr val="000000"/>
                </a:solidFill>
                <a:latin typeface="Arial"/>
                <a:ea typeface="Arial"/>
              </a:rPr>
              <a:t>목적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649000" cy="381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71000"/>
          </a:bodyPr>
          <a:p>
            <a:pPr marL="457200" indent="-3499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1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핵심 목적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빗물 양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(ADC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전압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에 따른 와이퍼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서보모터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)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속도 자동 제어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720" spc="-1" strike="noStrike">
              <a:solidFill>
                <a:srgbClr val="000000"/>
              </a:solidFill>
              <a:latin typeface="Arial"/>
            </a:endParaRPr>
          </a:p>
          <a:p>
            <a:pPr marL="457200" indent="-3499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1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기술적 도전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:</a:t>
            </a:r>
            <a:endParaRPr b="0" lang="en-US" sz="272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992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1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하드웨어 분석 </a:t>
            </a:r>
            <a:r>
              <a:rPr b="1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(Spec Analysis)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: SDK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함수 너머의 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S32K144 Reference Manual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레지스터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0" lang="en-US" sz="2720" spc="-1" strike="noStrike">
                <a:solidFill>
                  <a:srgbClr val="188038"/>
                </a:solidFill>
                <a:latin typeface="Roboto Mono"/>
                <a:ea typeface="Roboto Mono"/>
              </a:rPr>
              <a:t>ADC_RA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0" lang="en-US" sz="2720" spc="-1" strike="noStrike">
                <a:solidFill>
                  <a:srgbClr val="188038"/>
                </a:solidFill>
                <a:latin typeface="Roboto Mono"/>
                <a:ea typeface="Roboto Mono"/>
              </a:rPr>
              <a:t>FTM_MOD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등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)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직접 분석 및 최적화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72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992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1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비차단형 로직 </a:t>
            </a:r>
            <a:r>
              <a:rPr b="1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(Non-blocking Logic)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b="0" lang="en-US" sz="2720" spc="-1" strike="noStrike">
                <a:solidFill>
                  <a:srgbClr val="188038"/>
                </a:solidFill>
                <a:latin typeface="Roboto Mono"/>
                <a:ea typeface="Roboto Mono"/>
              </a:rPr>
              <a:t>Delay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함수를 배제하고 </a:t>
            </a:r>
            <a:r>
              <a:rPr b="1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Timer Interrupt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를 활용하여 다중 작업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모터 구동 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+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센서 읽기 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+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통신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)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처리 능력 확보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72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9920">
              <a:lnSpc>
                <a:spcPct val="115000"/>
              </a:lnSpc>
              <a:buClr>
                <a:srgbClr val="000000"/>
              </a:buClr>
              <a:buFont typeface="Arial"/>
              <a:buChar char="○"/>
            </a:pPr>
            <a:r>
              <a:rPr b="1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외부 하드웨어 인터페이싱 </a:t>
            </a:r>
            <a:r>
              <a:rPr b="1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(External Interfacing)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내장 기능을 넘어 외부 회로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가변저항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서보모터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브레드보드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b="0" lang="ko" sz="2720" spc="-1" strike="noStrike">
                <a:solidFill>
                  <a:srgbClr val="000000"/>
                </a:solidFill>
                <a:latin typeface="Arial"/>
                <a:ea typeface="Arial"/>
              </a:rPr>
              <a:t>를 직접 설계하고 보드와 전기적으로 연결하여 실무적인 하드웨어 제어 역량 증명</a:t>
            </a: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720" spc="-1" strike="noStrike">
              <a:solidFill>
                <a:srgbClr val="000000"/>
              </a:solidFill>
              <a:latin typeface="Arial"/>
            </a:endParaRPr>
          </a:p>
          <a:p>
            <a:pPr marL="91440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2. </a:t>
            </a:r>
            <a:r>
              <a:rPr b="0" lang="ko" sz="2800" spc="-1" strike="noStrike">
                <a:solidFill>
                  <a:srgbClr val="000000"/>
                </a:solidFill>
                <a:latin typeface="Arial"/>
                <a:ea typeface="Arial"/>
              </a:rPr>
              <a:t>시스템 구성 다이어그램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67;p15"/>
          <p:cNvSpPr/>
          <p:nvPr/>
        </p:nvSpPr>
        <p:spPr>
          <a:xfrm>
            <a:off x="7334640" y="3235320"/>
            <a:ext cx="1699920" cy="1100520"/>
          </a:xfrm>
          <a:prstGeom prst="rect">
            <a:avLst/>
          </a:prstGeom>
          <a:solidFill>
            <a:srgbClr val="ffd966"/>
          </a:solidFill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950" spc="-1" strike="noStrike">
                <a:solidFill>
                  <a:srgbClr val="000000"/>
                </a:solidFill>
                <a:latin typeface="Courier New"/>
                <a:ea typeface="Courier New"/>
              </a:rPr>
              <a:t>모니터링부</a:t>
            </a:r>
            <a:r>
              <a:rPr b="0" lang="en-US" sz="950" spc="-1" strike="noStrike">
                <a:solidFill>
                  <a:srgbClr val="000000"/>
                </a:solidFill>
                <a:latin typeface="Courier New"/>
                <a:ea typeface="Courier New"/>
              </a:rPr>
              <a:t>(Monitoring)</a:t>
            </a:r>
            <a:endParaRPr b="0" lang="en-US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000000"/>
                </a:solidFill>
                <a:latin typeface="Courier New"/>
                <a:ea typeface="Courier New"/>
              </a:rPr>
              <a:t>PC (FreeMASTER)</a:t>
            </a:r>
            <a:endParaRPr b="0" lang="en-US" sz="1650" spc="-1" strike="noStrike">
              <a:latin typeface="Arial"/>
            </a:endParaRPr>
          </a:p>
        </p:txBody>
      </p:sp>
      <p:sp>
        <p:nvSpPr>
          <p:cNvPr id="90" name="Google Shape;68;p15"/>
          <p:cNvSpPr/>
          <p:nvPr/>
        </p:nvSpPr>
        <p:spPr>
          <a:xfrm>
            <a:off x="7334640" y="1724400"/>
            <a:ext cx="1699920" cy="1100520"/>
          </a:xfrm>
          <a:prstGeom prst="rect">
            <a:avLst/>
          </a:prstGeom>
          <a:solidFill>
            <a:srgbClr val="ffd966"/>
          </a:solidFill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150" spc="-1" strike="noStrike">
                <a:solidFill>
                  <a:srgbClr val="000000"/>
                </a:solidFill>
                <a:latin typeface="Courier New"/>
                <a:ea typeface="Courier New"/>
              </a:rPr>
              <a:t>구동부</a:t>
            </a:r>
            <a:r>
              <a:rPr b="0" lang="en-US" sz="1150" spc="-1" strike="noStrike">
                <a:solidFill>
                  <a:srgbClr val="000000"/>
                </a:solidFill>
                <a:latin typeface="Courier New"/>
                <a:ea typeface="Courier New"/>
              </a:rPr>
              <a:t>(Actuators)</a:t>
            </a:r>
            <a:endParaRPr b="0" lang="en-US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" sz="1450" spc="-1" strike="noStrike">
                <a:solidFill>
                  <a:srgbClr val="000000"/>
                </a:solidFill>
                <a:latin typeface="Courier New"/>
                <a:ea typeface="Courier New"/>
              </a:rPr>
              <a:t>서보 모터 </a:t>
            </a:r>
            <a:r>
              <a:rPr b="0" lang="en-US" sz="1450" spc="-1" strike="noStrike">
                <a:solidFill>
                  <a:srgbClr val="000000"/>
                </a:solidFill>
                <a:latin typeface="Courier New"/>
                <a:ea typeface="Courier New"/>
              </a:rPr>
              <a:t>(Servo Motor)</a:t>
            </a:r>
            <a:endParaRPr b="0" lang="en-US" sz="1450" spc="-1" strike="noStrike">
              <a:latin typeface="Arial"/>
            </a:endParaRPr>
          </a:p>
        </p:txBody>
      </p:sp>
      <p:grpSp>
        <p:nvGrpSpPr>
          <p:cNvPr id="91" name="Google Shape;69;p15"/>
          <p:cNvGrpSpPr/>
          <p:nvPr/>
        </p:nvGrpSpPr>
        <p:grpSpPr>
          <a:xfrm>
            <a:off x="174600" y="2266920"/>
            <a:ext cx="1872360" cy="1440000"/>
            <a:chOff x="174600" y="2266920"/>
            <a:chExt cx="1872360" cy="1440000"/>
          </a:xfrm>
        </p:grpSpPr>
        <p:sp>
          <p:nvSpPr>
            <p:cNvPr id="92" name="Google Shape;70;p15"/>
            <p:cNvSpPr/>
            <p:nvPr/>
          </p:nvSpPr>
          <p:spPr>
            <a:xfrm>
              <a:off x="174600" y="2266920"/>
              <a:ext cx="1872360" cy="1440000"/>
            </a:xfrm>
            <a:prstGeom prst="rect">
              <a:avLst/>
            </a:prstGeom>
            <a:solidFill>
              <a:srgbClr val="9fc5e8"/>
            </a:solidFill>
            <a:ln w="9360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88560" rIns="88560" tIns="88560" bIns="8856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ko" sz="1510" spc="-1" strike="noStrike">
                  <a:solidFill>
                    <a:srgbClr val="000000"/>
                  </a:solidFill>
                  <a:highlight>
                    <a:srgbClr val="9fc5e8"/>
                  </a:highlight>
                  <a:latin typeface="Courier New"/>
                  <a:ea typeface="Courier New"/>
                </a:rPr>
                <a:t>입력부</a:t>
              </a:r>
              <a:r>
                <a:rPr b="0" lang="en-US" sz="1510" spc="-1" strike="noStrike">
                  <a:solidFill>
                    <a:srgbClr val="000000"/>
                  </a:solidFill>
                  <a:highlight>
                    <a:srgbClr val="9fc5e8"/>
                  </a:highlight>
                  <a:latin typeface="Courier New"/>
                  <a:ea typeface="Courier New"/>
                </a:rPr>
                <a:t>(Sensors)</a:t>
              </a:r>
              <a:endParaRPr b="0" lang="en-US" sz="151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endParaRPr b="0" lang="en-US" sz="151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endParaRPr b="0" lang="en-US" sz="151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endParaRPr b="0" lang="en-US" sz="151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endParaRPr b="0" lang="en-US" sz="107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070" spc="-1" strike="noStrike">
                  <a:solidFill>
                    <a:srgbClr val="000000"/>
                  </a:solidFill>
                  <a:latin typeface="Arial"/>
                  <a:ea typeface="Arial"/>
                </a:rPr>
                <a:t>(</a:t>
              </a:r>
              <a:r>
                <a:rPr b="0" lang="ko" sz="1070" spc="-1" strike="noStrike">
                  <a:solidFill>
                    <a:srgbClr val="000000"/>
                  </a:solidFill>
                  <a:latin typeface="Arial"/>
                  <a:ea typeface="Arial"/>
                </a:rPr>
                <a:t>빗물 감지 센서 역할</a:t>
              </a:r>
              <a:r>
                <a:rPr b="0" lang="en-US" sz="1070" spc="-1" strike="noStrike">
                  <a:solidFill>
                    <a:srgbClr val="000000"/>
                  </a:solidFill>
                  <a:latin typeface="Arial"/>
                  <a:ea typeface="Arial"/>
                </a:rPr>
                <a:t>)</a:t>
              </a:r>
              <a:endParaRPr b="0" lang="en-US" sz="1070" spc="-1" strike="noStrike">
                <a:latin typeface="Arial"/>
              </a:endParaRPr>
            </a:p>
          </p:txBody>
        </p:sp>
        <p:sp>
          <p:nvSpPr>
            <p:cNvPr id="93" name="Google Shape;71;p15"/>
            <p:cNvSpPr/>
            <p:nvPr/>
          </p:nvSpPr>
          <p:spPr>
            <a:xfrm>
              <a:off x="433800" y="2661120"/>
              <a:ext cx="1353600" cy="759960"/>
            </a:xfrm>
            <a:prstGeom prst="rect">
              <a:avLst/>
            </a:prstGeom>
            <a:solidFill>
              <a:srgbClr val="9fc5e8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88560" rIns="88560" tIns="88560" bIns="8856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ko" sz="1360" spc="-1" strike="noStrike">
                  <a:solidFill>
                    <a:srgbClr val="000000"/>
                  </a:solidFill>
                  <a:latin typeface="Arial"/>
                  <a:ea typeface="Arial"/>
                </a:rPr>
                <a:t>가변저항 </a:t>
              </a:r>
              <a:r>
                <a:rPr b="0" lang="en-US" sz="1360" spc="-1" strike="noStrike">
                  <a:solidFill>
                    <a:srgbClr val="000000"/>
                  </a:solidFill>
                  <a:latin typeface="Arial"/>
                  <a:ea typeface="Arial"/>
                </a:rPr>
                <a:t>(</a:t>
              </a:r>
              <a:r>
                <a:rPr b="0" lang="en-US" sz="920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Potentiometer</a:t>
              </a:r>
              <a:r>
                <a:rPr b="0" lang="en-US" sz="1360" spc="-1" strike="noStrike">
                  <a:solidFill>
                    <a:srgbClr val="000000"/>
                  </a:solidFill>
                  <a:latin typeface="Arial"/>
                  <a:ea typeface="Arial"/>
                </a:rPr>
                <a:t>)</a:t>
              </a:r>
              <a:endParaRPr b="0" lang="en-US" sz="1360" spc="-1" strike="noStrike">
                <a:latin typeface="Arial"/>
              </a:endParaRPr>
            </a:p>
          </p:txBody>
        </p:sp>
      </p:grpSp>
      <p:grpSp>
        <p:nvGrpSpPr>
          <p:cNvPr id="94" name="Google Shape;72;p15"/>
          <p:cNvGrpSpPr/>
          <p:nvPr/>
        </p:nvGrpSpPr>
        <p:grpSpPr>
          <a:xfrm>
            <a:off x="3105360" y="1527840"/>
            <a:ext cx="3170520" cy="2809800"/>
            <a:chOff x="3105360" y="1527840"/>
            <a:chExt cx="3170520" cy="2809800"/>
          </a:xfrm>
        </p:grpSpPr>
        <p:sp>
          <p:nvSpPr>
            <p:cNvPr id="95" name="Google Shape;73;p15"/>
            <p:cNvSpPr/>
            <p:nvPr/>
          </p:nvSpPr>
          <p:spPr>
            <a:xfrm>
              <a:off x="3105360" y="1527840"/>
              <a:ext cx="3170520" cy="2809800"/>
            </a:xfrm>
            <a:prstGeom prst="rect">
              <a:avLst/>
            </a:prstGeom>
            <a:solidFill>
              <a:srgbClr val="b6d7a8"/>
            </a:solidFill>
            <a:ln w="828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8480" rIns="78480" tIns="78480" bIns="7848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ko" sz="1729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제어부</a:t>
              </a:r>
              <a:r>
                <a:rPr b="0" lang="en-US" sz="1729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(S32K144 MCU)</a:t>
              </a:r>
              <a:endParaRPr b="0" lang="en-US" sz="1729" spc="-1" strike="noStrike">
                <a:latin typeface="Arial"/>
              </a:endParaRPr>
            </a:p>
          </p:txBody>
        </p:sp>
        <p:sp>
          <p:nvSpPr>
            <p:cNvPr id="96" name="Google Shape;74;p15"/>
            <p:cNvSpPr/>
            <p:nvPr/>
          </p:nvSpPr>
          <p:spPr>
            <a:xfrm>
              <a:off x="4219560" y="2534400"/>
              <a:ext cx="866880" cy="796680"/>
            </a:xfrm>
            <a:prstGeom prst="rect">
              <a:avLst/>
            </a:prstGeom>
            <a:solidFill>
              <a:srgbClr val="b6d7a8"/>
            </a:solidFill>
            <a:ln w="828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8480" rIns="78480" tIns="78480" bIns="7848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240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State Machine </a:t>
              </a:r>
              <a:r>
                <a:rPr b="0" lang="ko" sz="1240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로직</a:t>
              </a:r>
              <a:endParaRPr b="0" lang="en-US" sz="1240" spc="-1" strike="noStrike">
                <a:latin typeface="Arial"/>
              </a:endParaRPr>
            </a:p>
          </p:txBody>
        </p:sp>
        <p:sp>
          <p:nvSpPr>
            <p:cNvPr id="97" name="Google Shape;75;p15"/>
            <p:cNvSpPr/>
            <p:nvPr/>
          </p:nvSpPr>
          <p:spPr>
            <a:xfrm>
              <a:off x="5295600" y="3264120"/>
              <a:ext cx="866880" cy="796680"/>
            </a:xfrm>
            <a:prstGeom prst="rect">
              <a:avLst/>
            </a:prstGeom>
            <a:solidFill>
              <a:srgbClr val="b6d7a8"/>
            </a:solidFill>
            <a:ln w="828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8480" rIns="78480" tIns="78480" bIns="7848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240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LPUART </a:t>
              </a:r>
              <a:r>
                <a:rPr b="0" lang="ko" sz="1240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모듈</a:t>
              </a:r>
              <a:endParaRPr b="0" lang="en-US" sz="1240" spc="-1" strike="noStrike">
                <a:latin typeface="Arial"/>
              </a:endParaRPr>
            </a:p>
          </p:txBody>
        </p:sp>
        <p:sp>
          <p:nvSpPr>
            <p:cNvPr id="98" name="Google Shape;76;p15"/>
            <p:cNvSpPr/>
            <p:nvPr/>
          </p:nvSpPr>
          <p:spPr>
            <a:xfrm>
              <a:off x="5263560" y="2035080"/>
              <a:ext cx="928800" cy="796680"/>
            </a:xfrm>
            <a:prstGeom prst="rect">
              <a:avLst/>
            </a:prstGeom>
            <a:solidFill>
              <a:srgbClr val="b6d7a8"/>
            </a:solidFill>
            <a:ln w="828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8480" rIns="78480" tIns="78480" bIns="7848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240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FTM(PWM) </a:t>
              </a:r>
              <a:r>
                <a:rPr b="0" lang="ko" sz="1240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모듈</a:t>
              </a:r>
              <a:endParaRPr b="0" lang="en-US" sz="1240" spc="-1" strike="noStrike">
                <a:latin typeface="Arial"/>
              </a:endParaRPr>
            </a:p>
          </p:txBody>
        </p:sp>
        <p:sp>
          <p:nvSpPr>
            <p:cNvPr id="99" name="Google Shape;77;p15"/>
            <p:cNvSpPr/>
            <p:nvPr/>
          </p:nvSpPr>
          <p:spPr>
            <a:xfrm>
              <a:off x="3148200" y="2536920"/>
              <a:ext cx="802440" cy="796680"/>
            </a:xfrm>
            <a:prstGeom prst="rect">
              <a:avLst/>
            </a:prstGeom>
            <a:solidFill>
              <a:srgbClr val="b6d7a8"/>
            </a:solidFill>
            <a:ln w="828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78480" rIns="78480" tIns="78480" bIns="7848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1330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ADC </a:t>
              </a:r>
              <a:r>
                <a:rPr b="0" lang="ko" sz="1330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모듈</a:t>
              </a:r>
              <a:endParaRPr b="0" lang="en-US" sz="1330" spc="-1" strike="noStrike">
                <a:latin typeface="Arial"/>
              </a:endParaRPr>
            </a:p>
          </p:txBody>
        </p:sp>
      </p:grpSp>
      <p:grpSp>
        <p:nvGrpSpPr>
          <p:cNvPr id="100" name="Google Shape;78;p15"/>
          <p:cNvGrpSpPr/>
          <p:nvPr/>
        </p:nvGrpSpPr>
        <p:grpSpPr>
          <a:xfrm>
            <a:off x="1932480" y="2763360"/>
            <a:ext cx="1286280" cy="1083240"/>
            <a:chOff x="1932480" y="2763360"/>
            <a:chExt cx="1286280" cy="1083240"/>
          </a:xfrm>
        </p:grpSpPr>
        <p:sp>
          <p:nvSpPr>
            <p:cNvPr id="101" name="Google Shape;79;p15"/>
            <p:cNvSpPr/>
            <p:nvPr/>
          </p:nvSpPr>
          <p:spPr>
            <a:xfrm>
              <a:off x="2142360" y="2763360"/>
              <a:ext cx="866880" cy="4942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a86e8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" name="Google Shape;80;p15"/>
            <p:cNvSpPr/>
            <p:nvPr/>
          </p:nvSpPr>
          <p:spPr>
            <a:xfrm>
              <a:off x="1932480" y="3166560"/>
              <a:ext cx="1286280" cy="68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950" spc="-1" strike="noStrike">
                  <a:solidFill>
                    <a:srgbClr val="000000"/>
                  </a:solidFill>
                  <a:latin typeface="Courier New"/>
                  <a:ea typeface="Courier New"/>
                </a:rPr>
                <a:t>Analog Voltage (0V ~ 5V)</a:t>
              </a:r>
              <a:endParaRPr b="0" lang="en-US" sz="950" spc="-1" strike="noStrike">
                <a:latin typeface="Arial"/>
              </a:endParaRPr>
            </a:p>
          </p:txBody>
        </p:sp>
      </p:grpSp>
      <p:sp>
        <p:nvSpPr>
          <p:cNvPr id="103" name="Google Shape;81;p15"/>
          <p:cNvSpPr/>
          <p:nvPr/>
        </p:nvSpPr>
        <p:spPr>
          <a:xfrm>
            <a:off x="6372000" y="3413880"/>
            <a:ext cx="866880" cy="494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ab4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Google Shape;82;p15"/>
          <p:cNvSpPr/>
          <p:nvPr/>
        </p:nvSpPr>
        <p:spPr>
          <a:xfrm>
            <a:off x="6372000" y="2113920"/>
            <a:ext cx="866880" cy="494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8038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Google Shape;83;p15"/>
          <p:cNvSpPr/>
          <p:nvPr/>
        </p:nvSpPr>
        <p:spPr>
          <a:xfrm>
            <a:off x="6054120" y="2478960"/>
            <a:ext cx="137268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00000"/>
                </a:solidFill>
                <a:latin typeface="Courier New"/>
                <a:ea typeface="Courier New"/>
              </a:rPr>
              <a:t>PWM Signal (50Hz)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06" name="Google Shape;84;p15"/>
          <p:cNvSpPr/>
          <p:nvPr/>
        </p:nvSpPr>
        <p:spPr>
          <a:xfrm>
            <a:off x="6118920" y="3846960"/>
            <a:ext cx="137268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00000"/>
                </a:solidFill>
                <a:latin typeface="Courier New"/>
                <a:ea typeface="Courier New"/>
              </a:rPr>
              <a:t>UART Serial Data (TX)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07" name="Google Shape;85;p15"/>
          <p:cNvSpPr/>
          <p:nvPr/>
        </p:nvSpPr>
        <p:spPr>
          <a:xfrm flipH="1" rot="10800000">
            <a:off x="3951000" y="2933280"/>
            <a:ext cx="268560" cy="2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Google Shape;86;p15"/>
          <p:cNvSpPr/>
          <p:nvPr/>
        </p:nvSpPr>
        <p:spPr>
          <a:xfrm>
            <a:off x="4653360" y="2534400"/>
            <a:ext cx="3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Google Shape;87;p15"/>
          <p:cNvSpPr/>
          <p:nvPr/>
        </p:nvSpPr>
        <p:spPr>
          <a:xfrm flipH="1" rot="10800000">
            <a:off x="4653720" y="2433960"/>
            <a:ext cx="609840" cy="10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Google Shape;88;p15"/>
          <p:cNvSpPr/>
          <p:nvPr/>
        </p:nvSpPr>
        <p:spPr>
          <a:xfrm>
            <a:off x="4653360" y="3331440"/>
            <a:ext cx="642240" cy="330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59595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3. </a:t>
            </a:r>
            <a:r>
              <a:rPr b="0" lang="ko" sz="2800" spc="-1" strike="noStrike">
                <a:solidFill>
                  <a:srgbClr val="000000"/>
                </a:solidFill>
                <a:latin typeface="Arial"/>
                <a:ea typeface="Arial"/>
              </a:rPr>
              <a:t>하드웨어 분석 및 레지스터 설계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636760" cy="381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1610" spc="-1" strike="noStrike">
                <a:solidFill>
                  <a:srgbClr val="000000"/>
                </a:solidFill>
                <a:latin typeface="Arial"/>
                <a:ea typeface="Arial"/>
              </a:rPr>
              <a:t>A. ADC0 (Analog-to-Digital Converter)</a:t>
            </a:r>
            <a:endParaRPr b="0" lang="en-US" sz="161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분석 레지스터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b="0" lang="en-US" sz="1500" spc="-1" strike="noStrike">
                <a:solidFill>
                  <a:srgbClr val="188038"/>
                </a:solidFill>
                <a:latin typeface="Roboto Mono"/>
                <a:ea typeface="Roboto Mono"/>
              </a:rPr>
              <a:t>ADC_SC1A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 (Status and Control Register 1), </a:t>
            </a:r>
            <a:r>
              <a:rPr b="0" lang="en-US" sz="1500" spc="-1" strike="noStrike">
                <a:solidFill>
                  <a:srgbClr val="188038"/>
                </a:solidFill>
                <a:latin typeface="Roboto Mono"/>
                <a:ea typeface="Roboto Mono"/>
              </a:rPr>
              <a:t>ADC_RA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 (Data Result Register).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설계 데이터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240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Resolution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: 12-bit (0 ~ 4095).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240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Input Channel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b="0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가변 저항이 연결된 핀의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ADC </a:t>
            </a:r>
            <a:r>
              <a:rPr b="0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채널 확인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0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예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: AD12 </a:t>
            </a:r>
            <a:r>
              <a:rPr b="0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등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1" lang="en-US" sz="1610" spc="-1" strike="noStrike">
                <a:solidFill>
                  <a:srgbClr val="000000"/>
                </a:solidFill>
                <a:latin typeface="Arial"/>
                <a:ea typeface="Arial"/>
              </a:rPr>
              <a:t>B. FTM0 (FlexTimer Module) - PWM</a:t>
            </a:r>
            <a:endParaRPr b="0" lang="en-US" sz="161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spcBef>
                <a:spcPts val="1800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분석 레지스터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b="0" lang="en-US" sz="1500" spc="-1" strike="noStrike">
                <a:solidFill>
                  <a:srgbClr val="188038"/>
                </a:solidFill>
                <a:latin typeface="Roboto Mono"/>
                <a:ea typeface="Roboto Mono"/>
              </a:rPr>
              <a:t>FTM_MOD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 (Modulo Register), </a:t>
            </a:r>
            <a:r>
              <a:rPr b="0" lang="en-US" sz="1500" spc="-1" strike="noStrike">
                <a:solidFill>
                  <a:srgbClr val="188038"/>
                </a:solidFill>
                <a:latin typeface="Roboto Mono"/>
                <a:ea typeface="Roboto Mono"/>
              </a:rPr>
              <a:t>FTM_CnV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 (Channel Value Register).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설계 데이터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240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Frequency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: 50Hz (</a:t>
            </a:r>
            <a:r>
              <a:rPr b="0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서보모터 표준 주기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20ms).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2400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Duty Cycle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: 1ms (5% </a:t>
            </a:r>
            <a:r>
              <a:rPr b="0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듀티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, 0°) ~ 2ms (10% </a:t>
            </a:r>
            <a:r>
              <a:rPr b="0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듀티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, 180°) </a:t>
            </a:r>
            <a:r>
              <a:rPr b="0" lang="ko" sz="1500" spc="-1" strike="noStrike">
                <a:solidFill>
                  <a:srgbClr val="000000"/>
                </a:solidFill>
                <a:latin typeface="Arial"/>
                <a:ea typeface="Arial"/>
              </a:rPr>
              <a:t>사이의 정밀 제어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0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4. </a:t>
            </a:r>
            <a:r>
              <a:rPr b="0" lang="ko" sz="2800" spc="-1" strike="noStrike">
                <a:solidFill>
                  <a:srgbClr val="000000"/>
                </a:solidFill>
                <a:latin typeface="Arial"/>
                <a:ea typeface="Arial"/>
              </a:rPr>
              <a:t>소프트웨어 로직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: State Machine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23520" y="110628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5" name="Google Shape;101;p17"/>
          <p:cNvGraphicFramePr/>
          <p:nvPr/>
        </p:nvGraphicFramePr>
        <p:xfrm>
          <a:off x="623520" y="1282680"/>
          <a:ext cx="7789320" cy="3239640"/>
        </p:xfrm>
        <a:graphic>
          <a:graphicData uri="http://schemas.openxmlformats.org/drawingml/2006/table">
            <a:tbl>
              <a:tblPr/>
              <a:tblGrid>
                <a:gridCol w="1198440"/>
                <a:gridCol w="1866240"/>
                <a:gridCol w="2107080"/>
                <a:gridCol w="2617920"/>
              </a:tblGrid>
              <a:tr h="648000"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ko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모드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ADC </a:t>
                      </a:r>
                      <a:r>
                        <a:rPr b="1" lang="ko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범위 </a:t>
                      </a:r>
                      <a:r>
                        <a:rPr b="1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(</a:t>
                      </a:r>
                      <a:r>
                        <a:rPr b="1" lang="ko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빗물 양</a:t>
                      </a:r>
                      <a:r>
                        <a:rPr b="1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)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ko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와이퍼 동작 </a:t>
                      </a:r>
                      <a:r>
                        <a:rPr b="1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(</a:t>
                      </a:r>
                      <a:r>
                        <a:rPr b="1" lang="ko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서보모터</a:t>
                      </a:r>
                      <a:r>
                        <a:rPr b="1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)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UART </a:t>
                      </a:r>
                      <a:r>
                        <a:rPr b="1" lang="ko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출력 메시지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solidFill>
                      <a:srgbClr val="efefef"/>
                    </a:solidFill>
                  </a:tcPr>
                </a:tc>
              </a:tr>
              <a:tr h="648000"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OFF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0 ~ 499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ko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정지 </a:t>
                      </a:r>
                      <a:r>
                        <a:rPr b="0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(0° </a:t>
                      </a:r>
                      <a:r>
                        <a:rPr b="0" lang="ko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고정</a:t>
                      </a:r>
                      <a:r>
                        <a:rPr b="0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)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"Mode: OFF"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</a:tr>
              <a:tr h="648000"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INT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500 ~ 1999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3</a:t>
                      </a:r>
                      <a:r>
                        <a:rPr b="0" lang="ko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초 간격 왕복 동작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"Mode: INTERVAL"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</a:tr>
              <a:tr h="648000"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LOW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2000 ~ 3499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ko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느린 속도로 연속 왕복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"Mode: LOW SPEED"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</a:tr>
              <a:tr h="648000"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HIGH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3500 ~ 4095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ko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빠른 속도로 연속 왕복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  <a:tc>
                  <a:txBody>
                    <a:bodyPr lIns="114120" rIns="114120" tIns="75960" bIns="75960" anchor="ctr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"Mode: HIGH SPEED"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anchor="ctr" marL="114120" marR="114120">
                    <a:lnL w="7200">
                      <a:solidFill>
                        <a:srgbClr val="1f1f1f"/>
                      </a:solidFill>
                    </a:lnL>
                    <a:lnR w="7200">
                      <a:solidFill>
                        <a:srgbClr val="1f1f1f"/>
                      </a:solidFill>
                    </a:lnR>
                    <a:lnT w="7200">
                      <a:solidFill>
                        <a:srgbClr val="1f1f1f"/>
                      </a:solidFill>
                    </a:lnT>
                    <a:lnB w="7200">
                      <a:solidFill>
                        <a:srgbClr val="1f1f1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5. </a:t>
            </a:r>
            <a:r>
              <a:rPr b="0" lang="ko" sz="2800" spc="-1" strike="noStrike">
                <a:solidFill>
                  <a:srgbClr val="000000"/>
                </a:solidFill>
                <a:latin typeface="Arial"/>
                <a:ea typeface="Arial"/>
              </a:rPr>
              <a:t>필요 물품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492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StarSymbol"/>
              <a:buAutoNum type="arabicPeriod"/>
            </a:pPr>
            <a:r>
              <a:rPr b="1" lang="ko" sz="1900" spc="-1" strike="noStrike">
                <a:solidFill>
                  <a:srgbClr val="000000"/>
                </a:solidFill>
                <a:latin typeface="Arial"/>
                <a:ea typeface="Arial"/>
              </a:rPr>
              <a:t>서보모터 </a:t>
            </a:r>
            <a:r>
              <a:rPr b="1" lang="en-US" sz="1900" spc="-1" strike="noStrike">
                <a:solidFill>
                  <a:srgbClr val="000000"/>
                </a:solidFill>
                <a:latin typeface="Arial"/>
                <a:ea typeface="Arial"/>
              </a:rPr>
              <a:t>(SG90)</a:t>
            </a:r>
            <a:r>
              <a:rPr b="0" lang="en-US" sz="1900" spc="-1" strike="noStrike">
                <a:solidFill>
                  <a:srgbClr val="000000"/>
                </a:solidFill>
                <a:latin typeface="Arial"/>
                <a:ea typeface="Arial"/>
              </a:rPr>
              <a:t>:</a:t>
            </a:r>
            <a:r>
              <a:rPr b="0" lang="en-US" sz="1900" spc="-1" strike="noStrike" u="sng">
                <a:solidFill>
                  <a:srgbClr val="000000"/>
                </a:solidFill>
                <a:uFillTx/>
                <a:latin typeface="Arial"/>
                <a:ea typeface="Arial"/>
                <a:hlinkClick r:id="rId1"/>
              </a:rPr>
              <a:t> </a:t>
            </a:r>
            <a:r>
              <a:rPr b="0" i="1" lang="en-US" sz="19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2"/>
              </a:rPr>
              <a:t>https://www.devicemart.co.kr/goods/view?no=1128421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15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ko" sz="1900" spc="-1" strike="noStrike">
                <a:solidFill>
                  <a:srgbClr val="000000"/>
                </a:solidFill>
                <a:latin typeface="Arial"/>
                <a:ea typeface="Arial"/>
              </a:rPr>
              <a:t>가변저항 </a:t>
            </a:r>
            <a:r>
              <a:rPr b="1" lang="en-US" sz="1900" spc="-1" strike="noStrike">
                <a:solidFill>
                  <a:srgbClr val="000000"/>
                </a:solidFill>
                <a:latin typeface="Arial"/>
                <a:ea typeface="Arial"/>
              </a:rPr>
              <a:t>(10kΩ)</a:t>
            </a:r>
            <a:r>
              <a:rPr b="0" lang="en-US" sz="1900" spc="-1" strike="noStrike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b="0" i="1" lang="en-US" sz="19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3"/>
              </a:rPr>
              <a:t>https://www.devicemart.co.kr/goods/view?no=1385277</a:t>
            </a:r>
            <a:r>
              <a:rPr b="0" i="1" lang="en-US" sz="19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15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ko" sz="1900" spc="-1" strike="noStrike">
                <a:solidFill>
                  <a:srgbClr val="000000"/>
                </a:solidFill>
                <a:latin typeface="Arial"/>
                <a:ea typeface="Arial"/>
              </a:rPr>
              <a:t>빵판 </a:t>
            </a:r>
            <a:r>
              <a:rPr b="1" lang="en-US" sz="1900" spc="-1" strike="noStrike">
                <a:solidFill>
                  <a:srgbClr val="000000"/>
                </a:solidFill>
                <a:latin typeface="Arial"/>
                <a:ea typeface="Arial"/>
              </a:rPr>
              <a:t>(400</a:t>
            </a:r>
            <a:r>
              <a:rPr b="1" lang="ko" sz="1900" spc="-1" strike="noStrike">
                <a:solidFill>
                  <a:srgbClr val="000000"/>
                </a:solidFill>
                <a:latin typeface="Arial"/>
                <a:ea typeface="Arial"/>
              </a:rPr>
              <a:t>홀</a:t>
            </a:r>
            <a:r>
              <a:rPr b="1" lang="en-US" sz="19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b="0" lang="en-US" sz="1900" spc="-1" strike="noStrike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b="0" lang="en-US" sz="1900" spc="-1" strike="noStrike" u="sng">
                <a:solidFill>
                  <a:srgbClr val="0097a7"/>
                </a:solidFill>
                <a:uFillTx/>
                <a:latin typeface="Arial"/>
                <a:ea typeface="Arial"/>
              </a:rPr>
              <a:t>https://www.devicemart.co.kr/goods/view?no=1328148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15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1" lang="ko" sz="1900" spc="-1" strike="noStrike">
                <a:solidFill>
                  <a:srgbClr val="000000"/>
                </a:solidFill>
                <a:latin typeface="Arial"/>
                <a:ea typeface="Arial"/>
              </a:rPr>
              <a:t>점퍼선 세트</a:t>
            </a:r>
            <a:r>
              <a:rPr b="0" lang="en-US" sz="1900" spc="-1" strike="noStrike">
                <a:solidFill>
                  <a:srgbClr val="000000"/>
                </a:solidFill>
                <a:latin typeface="Arial"/>
                <a:ea typeface="Arial"/>
              </a:rPr>
              <a:t>:</a:t>
            </a:r>
            <a:r>
              <a:rPr b="0" lang="en-US" sz="1900" spc="-1" strike="noStrike" u="sng">
                <a:solidFill>
                  <a:srgbClr val="000000"/>
                </a:solidFill>
                <a:uFillTx/>
                <a:latin typeface="Arial"/>
                <a:ea typeface="Arial"/>
                <a:hlinkClick r:id="rId4"/>
              </a:rPr>
              <a:t>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5136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US" sz="1929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5"/>
              </a:rPr>
              <a:t>https://www.devicemart.co.kr/goods/view?no=15810172</a:t>
            </a:r>
            <a:r>
              <a:rPr b="0" lang="en-US" sz="1929" spc="-1" strike="noStrike">
                <a:solidFill>
                  <a:srgbClr val="595959"/>
                </a:solidFill>
                <a:latin typeface="Arial"/>
                <a:ea typeface="Arial"/>
              </a:rPr>
              <a:t> </a:t>
            </a:r>
            <a:endParaRPr b="0" lang="en-US" sz="1929" spc="-1" strike="noStrike">
              <a:solidFill>
                <a:srgbClr val="000000"/>
              </a:solidFill>
              <a:latin typeface="Arial"/>
            </a:endParaRPr>
          </a:p>
          <a:p>
            <a:pPr marL="457200" indent="-351360">
              <a:lnSpc>
                <a:spcPct val="115000"/>
              </a:lnSpc>
              <a:buClr>
                <a:srgbClr val="595959"/>
              </a:buClr>
              <a:buFont typeface="Arial"/>
              <a:buChar char="-"/>
            </a:pPr>
            <a:r>
              <a:rPr b="0" lang="en-US" sz="1929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6"/>
              </a:rPr>
              <a:t>https://www.devicemart.co.kr/goods/view?no=15810171</a:t>
            </a:r>
            <a:r>
              <a:rPr b="0" lang="en-US" sz="1929" spc="-1" strike="noStrike">
                <a:solidFill>
                  <a:srgbClr val="595959"/>
                </a:solidFill>
                <a:latin typeface="Arial"/>
                <a:ea typeface="Arial"/>
              </a:rPr>
              <a:t> </a:t>
            </a:r>
            <a:endParaRPr b="0" lang="en-US" sz="19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2026-06-09T16:27:05Z</dcterms:modified>
  <cp:revision>1</cp:revision>
  <dc:subject/>
  <dc:title/>
</cp:coreProperties>
</file>